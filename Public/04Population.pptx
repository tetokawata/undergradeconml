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統計的性質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機械学習</a:t>
            </a:r>
            <a:br/>
            <a:br/>
            <a:r>
              <a:rPr/>
              <a:t>川田恵介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2025-10-02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可能であれば削減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サンプルリングと母集団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ここまでの議論を整理</a:t>
            </a:r>
          </a:p>
          <a:p>
            <a:pPr lvl="1"/>
            <a:r>
              <a:rPr/>
              <a:t>シンプルなモデルやLASSOを活用する動機は、</a:t>
            </a:r>
          </a:p>
          <a:p>
            <a:pPr lvl="2"/>
            <a:r>
              <a:rPr/>
              <a:t>複雑なモデルをOLSで推定した予測は、“下振れ/上振れ”しやすい</a:t>
            </a:r>
          </a:p>
          <a:p>
            <a:pPr lvl="3"/>
            <a:r>
              <a:rPr/>
              <a:t>何と比べて”下振れ/上振れ”するのか?</a:t>
            </a:r>
          </a:p>
          <a:p>
            <a:pPr lvl="1"/>
            <a:r>
              <a:rPr/>
              <a:t>「母集団とサンプリング」を用いた枠組みを用いる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母集団という概念をしっかり理解</a:t>
            </a:r>
          </a:p>
          <a:p>
            <a:pPr lvl="1"/>
            <a:r>
              <a:rPr/>
              <a:t>統計学、計量経済学、機械学習等、“全ての”データ分析法を学ぶ際の必須概念</a:t>
            </a:r>
          </a:p>
          <a:p>
            <a:pPr lvl="2"/>
            <a:r>
              <a:rPr/>
              <a:t>同時に初学者最大の壁</a:t>
            </a:r>
          </a:p>
          <a:p>
            <a:pPr lvl="0"/>
            <a:r>
              <a:rPr/>
              <a:t>個人的には、特殊な”世界観”を例え話として用いた論点整理法、ぐらいの感覚が実践的だと思います</a:t>
            </a:r>
          </a:p>
          <a:p>
            <a:pPr lvl="1"/>
            <a:r>
              <a:rPr/>
              <a:t>類似例: 国家を”人間”に例えて、国際政治を論じる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母分布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サンプリング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データ収集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サンプリング</a:t>
                </a:r>
              </a:p>
              <a:p>
                <a:pPr lvl="1"/>
                <a:r>
                  <a:rPr/>
                  <a:t>業務記録、聞き取り/電話/ネット調査等</a:t>
                </a:r>
              </a:p>
              <a:p>
                <a:pPr lvl="0"/>
                <a:r>
                  <a:rPr/>
                  <a:t>本講義では、</a:t>
                </a:r>
                <a:r>
                  <a:rPr b="1"/>
                  <a:t>母集団</a:t>
                </a:r>
                <a:r>
                  <a:rPr/>
                  <a:t>からランダムに選ばれた事例が、データに収録されていると考える</a:t>
                </a:r>
              </a:p>
              <a:p>
                <a:pPr lvl="1"/>
                <a:r>
                  <a:rPr/>
                  <a:t>同じ研究対象、課題、分析手法であったとしても、サンプリングされるデータが異なるため、結果が変化してしまう。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母集団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本講義の範囲内では、無限大の事例数を持つ巨大データをイメージしてOK</a:t>
                </a:r>
              </a:p>
              <a:p>
                <a:pPr lvl="1"/>
                <a:r>
                  <a:rPr/>
                  <a:t>推定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手元のデータから母集団の特徴を推測するプロセス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武蔵大学生の実態調査を行うために、ランダムに選ばれた100名にインタビューし、データ化</a:t>
                </a:r>
              </a:p>
              <a:p>
                <a:pPr lvl="1"/>
                <a:r>
                  <a:rPr/>
                  <a:t>母集団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武蔵大学生、データ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選ばれた100名</a:t>
                </a:r>
              </a:p>
              <a:p>
                <a:pPr lvl="0"/>
                <a:r>
                  <a:rPr/>
                  <a:t>9月の生協利用者の購入履歴をデータ化し、売れ筋商品を把握したい</a:t>
                </a:r>
              </a:p>
              <a:p>
                <a:pPr lvl="1"/>
                <a:r>
                  <a:rPr/>
                  <a:t>母集団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“潜在的な”生協利用者、 データ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“実際”の利用者</a:t>
                </a:r>
              </a:p>
              <a:p>
                <a:pPr lvl="1"/>
                <a:r>
                  <a:rPr/>
                  <a:t>「潜在的な利用顧客(母数団)の一部が偶然利用した」とも解釈できる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母平均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データである以上、母集団に対してもここまでの議論が適用できる</a:t>
                </a:r>
              </a:p>
              <a:p>
                <a:pPr lvl="0"/>
                <a:r>
                  <a:rPr/>
                  <a:t>母平均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母集団において”仮想的に”計算された平均値</a:t>
                </a:r>
              </a:p>
              <a:p>
                <a:pPr lvl="0"/>
                <a:r>
                  <a:rPr/>
                  <a:t>実際の計算は、不可能であることに</a:t>
                </a:r>
                <a:r>
                  <a:rPr b="1"/>
                  <a:t>厳重注意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母平均の推定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母平均の推定: もし事例数が十分にあれば、データ上の平均値は優れた推定値</a:t>
                </a:r>
              </a:p>
              <a:p>
                <a:pPr lvl="1"/>
                <a:r>
                  <a:rPr/>
                  <a:t>データ上の平均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</m:oMath>
                </a14:m>
                <a:r>
                  <a:rPr/>
                  <a:t> 母平均、</a:t>
                </a:r>
              </a:p>
              <a:p>
                <a:pPr lvl="0"/>
                <a:r>
                  <a:rPr/>
                  <a:t>事例数が不十分な場合は、</a:t>
                </a:r>
              </a:p>
              <a:p>
                <a:pPr lvl="1"/>
                <a:r>
                  <a:rPr/>
                  <a:t>データ上の平均値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≉</m:t>
                    </m:r>
                  </m:oMath>
                </a14:m>
                <a:r>
                  <a:rPr/>
                  <a:t> 母集団上の平均値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</a:t>
            </a:r>
          </a:p>
        </p:txBody>
      </p:sp>
      <p:pic>
        <p:nvPicPr>
          <p:cNvPr descr="04Population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予測モデルの推定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予測対象のサンプリング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予測対象も、データと同じ母集団からランダムに選ばれる状況を想定</a:t>
            </a:r>
          </a:p>
          <a:p>
            <a:pPr lvl="1"/>
            <a:r>
              <a:rPr b="1"/>
              <a:t>実践への含意:</a:t>
            </a:r>
            <a:r>
              <a:rPr/>
              <a:t> 予測対象と時間、地理、文化的に近い集団から得られたデータを活用できる</a:t>
            </a:r>
          </a:p>
          <a:p>
            <a:pPr lvl="1"/>
            <a:r>
              <a:rPr b="1"/>
              <a:t>違反している例:</a:t>
            </a:r>
            <a:r>
              <a:rPr/>
              <a:t> 今の武蔵大生を予測するために、1970年のアメリカの高校生のデータから予測モデルを推定する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完璧な予測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完璧な予測: 全ての事例について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予</m:t>
                      </m:r>
                      <m:r>
                        <m:t>測</m:t>
                      </m:r>
                      <m:r>
                        <m:t>値</m:t>
                      </m:r>
                    </m:oMath>
                  </m:oMathPara>
                </a14:m>
              </a:p>
              <a:p>
                <a:pPr lvl="1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内で個人差があれば、不可能</a:t>
                </a:r>
              </a:p>
              <a:p>
                <a:pPr lvl="1"/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t>年</m:t>
                    </m:r>
                    <m:r>
                      <m:t>齢</m:t>
                    </m:r>
                    <m:r>
                      <m:rPr>
                        <m:sty m:val="p"/>
                      </m:rPr>
                      <m:t>、</m:t>
                    </m:r>
                    <m:r>
                      <m:t>学</m:t>
                    </m:r>
                    <m:r>
                      <m:t>歴</m:t>
                    </m:r>
                    <m:r>
                      <m:rPr>
                        <m:sty m:val="p"/>
                      </m:rPr>
                      <m:t>、</m:t>
                    </m:r>
                    <m:r>
                      <m:t>性</m:t>
                    </m:r>
                    <m:r>
                      <m:t>別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 から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賃</m:t>
                    </m:r>
                    <m:r>
                      <m:t>金</m:t>
                    </m:r>
                  </m:oMath>
                </a14:m>
                <a:r>
                  <a:rPr/>
                  <a:t> を完璧に予測するためには、「同じ年齢、学歴、性別であれば、賃金が全く同じ”非現実的”社会」を前提とする必要がある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最善の予測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もし母集団を予測モデル推定に活用できる場合、どのような”推定”方法がベストか?</a:t>
            </a:r>
          </a:p>
          <a:p>
            <a:pPr lvl="1"/>
            <a:r>
              <a:rPr/>
              <a:t>平均二乗誤差を最小化したいのであれば、</a:t>
            </a:r>
            <a:r>
              <a:rPr b="1"/>
              <a:t>母平均</a:t>
            </a:r>
            <a:r>
              <a:rPr/>
              <a:t> が最善</a:t>
            </a:r>
          </a:p>
          <a:p>
            <a:pPr lvl="0" indent="0" marL="0">
              <a:buNone/>
            </a:pPr>
          </a:p>
        </p:txBody>
      </p:sp>
      <p:pic>
        <p:nvPicPr>
          <p:cNvPr descr="04Population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82800"/>
            <a:ext cx="5105400" cy="63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現実の予測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限られたデータから、母平均に近い予測モデルを生み出せる推定方法を採用すべき</a:t>
            </a:r>
          </a:p>
          <a:p>
            <a:pPr lvl="1"/>
            <a:r>
              <a:rPr/>
              <a:t>多くの応用で、事例数の問題から、平均値は母平均との乖離が大きい</a:t>
            </a:r>
          </a:p>
          <a:p>
            <a:pPr lvl="0" indent="0" marL="0">
              <a:buNone/>
            </a:pPr>
          </a:p>
        </p:txBody>
      </p:sp>
      <p:pic>
        <p:nvPicPr>
          <p:cNvPr descr="04Population_files/figure-pptx/mermaid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38300"/>
            <a:ext cx="5105400" cy="152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例: ベンチマーク</a:t>
            </a:r>
          </a:p>
        </p:txBody>
      </p:sp>
      <p:pic>
        <p:nvPicPr>
          <p:cNvPr descr="04Population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例: 複雑なモデル</a:t>
            </a:r>
          </a:p>
        </p:txBody>
      </p:sp>
      <p:pic>
        <p:nvPicPr>
          <p:cNvPr descr="04Population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サンプルサイズの問題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先のシュミレーションは、小規模な事例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20</m:t>
                        </m:r>
                      </m:e>
                    </m:d>
                  </m:oMath>
                </a14:m>
                <a:r>
                  <a:rPr/>
                  <a:t> からなるデータ</a:t>
                </a:r>
              </a:p>
              <a:p>
                <a:pPr lvl="1"/>
                <a:r>
                  <a:rPr/>
                  <a:t>データ上の平均値に近づく複雑なモデルは、予測性能が低い</a:t>
                </a:r>
              </a:p>
              <a:p>
                <a:pPr lvl="0"/>
                <a:r>
                  <a:rPr/>
                  <a:t>大規模事例を用いれば、複雑なモデルの方が、理想の予測モデル (母平均) に近づく</a:t>
                </a:r>
              </a:p>
              <a:p>
                <a:pPr lvl="1"/>
                <a:r>
                  <a:rPr/>
                  <a:t>データ上の平均値が母平均に近づくため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例: 複雑なモデル with 50000事例</a:t>
            </a:r>
          </a:p>
        </p:txBody>
      </p:sp>
      <p:pic>
        <p:nvPicPr>
          <p:cNvPr descr="04Population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基本アイディアは、母集団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</m:oMath>
                </a14:m>
                <a:r>
                  <a:rPr/>
                  <a:t> データを期待して、データ上の平均値の性質を予測に活用</a:t>
                </a:r>
              </a:p>
              <a:p>
                <a:pPr lvl="0"/>
                <a:r>
                  <a:rPr/>
                  <a:t>事例数が少ない場合は、母集団の詳細な特徴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≉</m:t>
                    </m:r>
                  </m:oMath>
                </a14:m>
                <a:r>
                  <a:rPr/>
                  <a:t> データの詳細な特徴であり、データの大雑把な特徴のみを予測に活用することが現実的</a:t>
                </a:r>
              </a:p>
              <a:p>
                <a:pPr lvl="1"/>
                <a:r>
                  <a:rPr/>
                  <a:t>一つの方法は、単純なモデルをOLSで推定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無限大</a:t>
            </a:r>
            <a:r>
              <a:rPr/>
              <a:t>の事例数を持つデータが利用できるのであれば、平均値が理想の予測モデル</a:t>
            </a:r>
          </a:p>
          <a:p>
            <a:pPr lvl="0"/>
            <a:r>
              <a:rPr b="1"/>
              <a:t>非常に大きい</a:t>
            </a:r>
            <a:r>
              <a:rPr/>
              <a:t>事例数であれば、データ上の平均値が優れた予測モデル</a:t>
            </a:r>
          </a:p>
          <a:p>
            <a:pPr lvl="0"/>
            <a:r>
              <a:rPr b="1"/>
              <a:t>十分に大きい</a:t>
            </a:r>
            <a:r>
              <a:rPr/>
              <a:t>事例数であれば、複雑な予測モデルをOLSで推定する方法は実用的</a:t>
            </a:r>
          </a:p>
          <a:p>
            <a:pPr lvl="0"/>
            <a:r>
              <a:rPr b="1"/>
              <a:t>限られた</a:t>
            </a:r>
            <a:r>
              <a:rPr/>
              <a:t>事例数であれば、過剰適合を避けるために、単純な予測モデルをOLSで推定する方法が実用的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OLSは、データへの適合のみを目指して推定する</a:t>
            </a:r>
          </a:p>
          <a:p>
            <a:pPr lvl="1"/>
            <a:r>
              <a:rPr/>
              <a:t>過剰適合を避けるには、人間が単純なモデルを設定する必要がある</a:t>
            </a:r>
          </a:p>
          <a:p>
            <a:pPr lvl="2"/>
            <a:r>
              <a:rPr/>
              <a:t>実践は難しい</a:t>
            </a:r>
          </a:p>
          <a:p>
            <a:pPr lvl="0"/>
            <a:r>
              <a:rPr/>
              <a:t>LASSOは、過剰適合を減らす仕組みを導入</a:t>
            </a:r>
          </a:p>
          <a:p>
            <a:pPr lvl="1"/>
            <a:r>
              <a:rPr/>
              <a:t>例えば、事例数が少なければ、複雑性への”課税額”が自動的に増加し、単純なモデルが推定されやすくなる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応用例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統計的性質</dc:title>
  <dc:creator>川田恵介</dc:creator>
  <cp:keywords/>
  <dcterms:created xsi:type="dcterms:W3CDTF">2025-10-02T03:56:50Z</dcterms:created>
  <dcterms:modified xsi:type="dcterms:W3CDTF">2025-10-02T03:56:50Z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2025-10-02</vt:lpwstr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lide-number">
    <vt:lpwstr>True</vt:lpwstr>
  </property>
  <property fmtid="{D5CDD505-2E9C-101B-9397-08002B2CF9AE}" pid="14" name="subtitle">
    <vt:lpwstr>機械学習</vt:lpwstr>
  </property>
  <property fmtid="{D5CDD505-2E9C-101B-9397-08002B2CF9AE}" pid="15" name="toc-title">
    <vt:lpwstr>Table of contents</vt:lpwstr>
  </property>
</Properties>
</file>